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png" ContentType="image/pn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2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3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4b63cfdbdbe4170" /><Relationship Type="http://schemas.openxmlformats.org/package/2006/relationships/metadata/core-properties" Target="/docProps/core.xml" Id="R44e4a1db26374744" /><Relationship Type="http://schemas.openxmlformats.org/officeDocument/2006/relationships/extended-properties" Target="/docProps/app.xml" Id="Rddfecd0d4f1c4a87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dcc074751ed8411e"/>
    <p:sldMasterId id="2147483660" r:id="R986650a7b600452e"/>
    <p:sldMasterId id="2147483662" r:id="R8dace3ab73244c8c"/>
  </p:sldMasterIdLst>
  <p:sldIdLst>
    <p:sldId id="256" r:id="Ra444ad0f28c14779"/>
    <p:sldId id="257" r:id="R4cb751be97584fb9"/>
    <p:sldId id="258" r:id="R1bf8681f404d4411"/>
    <p:sldId id="259" r:id="R781ef14b2318446d"/>
    <p:sldId id="260" r:id="R0b6eb094ccad4a6d"/>
    <p:sldId id="261" r:id="R0dfc5736cf7741cb"/>
    <p:sldId id="262" r:id="R6e312f6e23ae4ac7"/>
    <p:sldId id="263" r:id="R29fb33a71ab04a64"/>
  </p:sldIdLst>
  <p:sldSz cx="12191999" cy="6858000" type="screen4x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notesMasterIdLst>
    <p:notesMasterId r:id="R365b58bb15814327"/>
  </p:notesMasterId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dfaff0405e254a60" /><Relationship Type="http://schemas.openxmlformats.org/officeDocument/2006/relationships/viewProps" Target="/ppt/viewProps.xml" Id="R9547a38b5927415c" /><Relationship Type="http://schemas.openxmlformats.org/officeDocument/2006/relationships/slideMaster" Target="/ppt/slideMasters/slideMaster1.xml" Id="Rdcc074751ed8411e" /><Relationship Type="http://schemas.openxmlformats.org/officeDocument/2006/relationships/theme" Target="/ppt/slideMasters/theme/theme1.xml" Id="Rd8aaee834b644162" /><Relationship Type="http://schemas.openxmlformats.org/officeDocument/2006/relationships/slide" Target="/ppt/slides/slide1.xml" Id="Ra444ad0f28c14779" /><Relationship Type="http://schemas.openxmlformats.org/officeDocument/2006/relationships/slide" Target="/ppt/slides/slide2.xml" Id="R4cb751be97584fb9" /><Relationship Type="http://schemas.openxmlformats.org/officeDocument/2006/relationships/slideMaster" Target="/ppt/slideMasters/slideMaster2.xml" Id="R986650a7b600452e" /><Relationship Type="http://schemas.openxmlformats.org/officeDocument/2006/relationships/slideMaster" Target="/ppt/slideMasters/slideMaster3.xml" Id="R8dace3ab73244c8c" /><Relationship Type="http://schemas.openxmlformats.org/officeDocument/2006/relationships/slide" Target="/ppt/slides/slide3.xml" Id="R1bf8681f404d4411" /><Relationship Type="http://schemas.openxmlformats.org/officeDocument/2006/relationships/notesMaster" Target="/ppt/notesMasters/notesMaster1.xml" Id="R365b58bb15814327" /><Relationship Type="http://schemas.openxmlformats.org/officeDocument/2006/relationships/slide" Target="/ppt/slides/slide4.xml" Id="R781ef14b2318446d" /><Relationship Type="http://schemas.openxmlformats.org/officeDocument/2006/relationships/slide" Target="/ppt/slides/slide5.xml" Id="R0b6eb094ccad4a6d" /><Relationship Type="http://schemas.openxmlformats.org/officeDocument/2006/relationships/slide" Target="/ppt/slides/slide6.xml" Id="R0dfc5736cf7741cb" /><Relationship Type="http://schemas.openxmlformats.org/officeDocument/2006/relationships/slide" Target="/ppt/slides/slide7.xml" Id="R6e312f6e23ae4ac7" /><Relationship Type="http://schemas.openxmlformats.org/officeDocument/2006/relationships/slide" Target="/ppt/slides/slide8.xml" Id="R29fb33a71ab04a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2229734a2a443d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4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3.xml" Id="Rdde07ca6e5e14d14" /><Relationship Type="http://schemas.openxmlformats.org/officeDocument/2006/relationships/notesMaster" Target="/ppt/notesMasters/notesMaster1.xml" Id="R6435f1d9fe9347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4.xml" Id="R7b38d5c1652242b4" /><Relationship Type="http://schemas.openxmlformats.org/officeDocument/2006/relationships/notesMaster" Target="/ppt/notesMasters/notesMaster1.xml" Id="Rf61a6f509cf141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5.xml" Id="R55aedc7694f94800" /><Relationship Type="http://schemas.openxmlformats.org/officeDocument/2006/relationships/notesMaster" Target="/ppt/notesMasters/notesMaster1.xml" Id="Raea3677c9cb245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6.xml" Id="Rcb953bd1483e40fd" /><Relationship Type="http://schemas.openxmlformats.org/officeDocument/2006/relationships/notesMaster" Target="/ppt/notesMasters/notesMaster1.xml" Id="Rc45768854ee24c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7.xml" Id="R54658d83867b496a" /><Relationship Type="http://schemas.openxmlformats.org/officeDocument/2006/relationships/notesMaster" Target="/ppt/notesMasters/notesMaster1.xml" Id="R2d5f922db5d943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8.xml" Id="Raddbbc10df33490d" /><Relationship Type="http://schemas.openxmlformats.org/officeDocument/2006/relationships/notesMaster" Target="/ppt/notesMasters/notesMaster1.xml" Id="R053952ec6bf14a3e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5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dirty="0"/>
          </a:p>
        </p:txBody>
      </p:sp>
      <p:sp>
        <p:nvSpPr>
          <p:cNvPr id="10486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445d13b4e46b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e240215f4a4d62" /><Relationship Type="http://schemas.openxmlformats.org/officeDocument/2006/relationships/image" Target="/ppt/media/image.png" Id="R9470821222bc488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2cfe0254754be4" /><Relationship Type="http://schemas.openxmlformats.org/officeDocument/2006/relationships/image" Target="/ppt/media/image.png" Id="R430669f86c9f4fbb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Genesis logo">    </p:cNvPr>
          <p:cNvPicPr>
            <a:picLocks noChangeAspect="1"/>
          </p:cNvPicPr>
          <p:nvPr/>
        </p:nvPicPr>
        <p:blipFill>
          <a:blip r:embed="R9470821222bc4888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p>
            <a:pPr marL="0" indent="0">
              <a:buNone/>
            </a:pPr>
            <a:endParaRPr lang="en-US" dirty="0"/>
          </a:p>
        </p:txBody>
      </p:sp>
      <p:pic>
        <p:nvPicPr>
          <p:cNvPr id="2097152" name="Image 0" descr="Genesis logo"/>
          <p:cNvPicPr>
            <a:picLocks noChangeAspect="1"/>
          </p:cNvPicPr>
          <p:nvPr/>
        </p:nvPicPr>
        <p:blipFill>
          <a:blip r:embed="R430669f86c9f4fbb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1048578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</p:spPr>
      </p:sp>
      <p:sp>
        <p:nvSpPr>
          <p:cNvPr id="1048579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1048580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</p:spPr>
        <p:txBody>
          <a:bodyPr wrap="square" rtlCol="0" anchor="ctr"/>
          <a:p>
            <a:pPr marL="0" indent="0">
              <a:buNone/>
            </a:pPr>
            <a:endParaRPr lang="en-US" dirty="0"/>
          </a:p>
        </p:txBody>
      </p:sp>
      <p:sp>
        <p:nvSpPr>
          <p:cNvPr id="1048581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p>
            <a:pPr marL="0" indent="0">
              <a:buNone/>
            </a:pPr>
            <a:endParaRPr lang="en-US" dirty="0"/>
          </a:p>
        </p:txBody>
      </p:sp>
      <p:sp>
        <p:nvSpPr>
          <p:cNvPr id="1048582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p>
            <a:pPr marL="0" indent="0">
              <a:buNone/>
            </a:pPr>
            <a:endParaRPr lang="en-US" dirty="0"/>
          </a:p>
        </p:txBody>
      </p:sp>
      <p:sp>
        <p:nvSpPr>
          <p:cNvPr id="1048583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p>
            <a:pPr marL="0" indent="0">
              <a:buNone/>
            </a:pPr>
            <a:endParaRPr lang="en-US" dirty="0"/>
          </a:p>
        </p:txBody>
      </p:sp>
      <p:sp>
        <p:nvSpPr>
          <p:cNvPr id="1048584" name="Text 7"/>
          <p:cNvSpPr/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104858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9491124f7754265" /><Relationship Type="http://schemas.openxmlformats.org/officeDocument/2006/relationships/slideLayout" Target="/ppt/slideLayouts/slideLayout7.xml" Id="R4b8e6d7958944b6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51db3464d54449" /><Relationship Type="http://schemas.openxmlformats.org/officeDocument/2006/relationships/slideLayout" Target="/ppt/slideLayouts/slideLayout12.xml" Id="R2a4cfa44ae964b0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d36da16d4fa4aa8" /><Relationship Type="http://schemas.openxmlformats.org/officeDocument/2006/relationships/slideLayout" Target="/ppt/slideLayouts/slideLayout13.xml" Id="R1ca8c1ddacaa46c9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4b8e6d7958944b6e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ma14="http://schemas.microsoft.com/office/mac/drawingml/2011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2a4cfa44ae964b0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1ca8c1ddacaa46c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lideMasters/theme/theme2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Masters/theme/theme3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<?xml version="1.0" encoding="utf-8"?><Relationships xmlns="http://schemas.openxmlformats.org/package/2006/relationships"><Relationship Type="http://schemas.openxmlformats.org/officeDocument/2006/relationships/image" Target="/ppt/media/logo_hd.png" Id="rIdLogo" /><Relationship Type="http://schemas.openxmlformats.org/officeDocument/2006/relationships/slideLayout" Target="/ppt/slideLayouts/slideLayout7.xml" Id="Ra3485bf249054a61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image" Target="/ppt/media/image2.png" Id="R9566f96aa2a44dd3" /><Relationship Type="http://schemas.openxmlformats.org/officeDocument/2006/relationships/image" Target="/ppt/media/image3.png" Id="R28b8f8b6d98b4e28" /><Relationship Type="http://schemas.openxmlformats.org/officeDocument/2006/relationships/slideLayout" Target="/ppt/slideLayouts/slideLayout12.xml" Id="Rcd59877541a9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2.png" Id="R9566f96aa2a44dd3" /><Relationship Type="http://schemas.openxmlformats.org/officeDocument/2006/relationships/image" Target="/ppt/media/image3.png" Id="R28b8f8b6d98b4e28" /><Relationship Type="http://schemas.openxmlformats.org/officeDocument/2006/relationships/notesSlide" Target="/ppt/notesSlides/notesSlide1.xml" Id="R0e8b968819564430" /><Relationship Type="http://schemas.openxmlformats.org/officeDocument/2006/relationships/slideLayout" Target="/ppt/slideLayouts/slideLayout12.xml" Id="Rcd59877541a9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2.png" Id="Rb144618324e34990" /><Relationship Type="http://schemas.openxmlformats.org/officeDocument/2006/relationships/image" Target="/ppt/media/image3.png" Id="Ra661e941c30e40b5" /><Relationship Type="http://schemas.openxmlformats.org/officeDocument/2006/relationships/notesSlide" Target="/ppt/notesSlides/notesSlide2.xml" Id="Rc5b3e7a5ae7c44ae" /><Relationship Type="http://schemas.openxmlformats.org/officeDocument/2006/relationships/slideLayout" Target="/ppt/slideLayouts/slideLayout12.xml" Id="Raf5d0db191e343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2.png" Id="R497e683e740143be" /><Relationship Type="http://schemas.openxmlformats.org/officeDocument/2006/relationships/image" Target="/ppt/media/image3.png" Id="Rbeda983eb57a4a35" /><Relationship Type="http://schemas.openxmlformats.org/officeDocument/2006/relationships/notesSlide" Target="/ppt/notesSlides/notesSlide3.xml" Id="R31e8b0b5c91b49bc" /><Relationship Type="http://schemas.openxmlformats.org/officeDocument/2006/relationships/slideLayout" Target="/ppt/slideLayouts/slideLayout12.xml" Id="R6120c24f242b43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.png" Id="R747abd4ee485490c" /><Relationship Type="http://schemas.openxmlformats.org/officeDocument/2006/relationships/image" Target="/ppt/media/image3.png" Id="Rafbf36e0cb294521" /><Relationship Type="http://schemas.openxmlformats.org/officeDocument/2006/relationships/notesSlide" Target="/ppt/notesSlides/notesSlide4.xml" Id="R015ff701d15e48b5" /><Relationship Type="http://schemas.openxmlformats.org/officeDocument/2006/relationships/slideLayout" Target="/ppt/slideLayouts/slideLayout13.xml" Id="Rfc039e3e33e047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.png" Id="Rcd8b5500d4234df3" /><Relationship Type="http://schemas.openxmlformats.org/officeDocument/2006/relationships/image" Target="/ppt/media/image3.png" Id="Rf2de9e31acf94ea6" /><Relationship Type="http://schemas.openxmlformats.org/officeDocument/2006/relationships/notesSlide" Target="/ppt/notesSlides/notesSlide5.xml" Id="Rb6fdfeb3a61b487c" /><Relationship Type="http://schemas.openxmlformats.org/officeDocument/2006/relationships/slideLayout" Target="/ppt/slideLayouts/slideLayout13.xml" Id="R57e04aec0f174a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2.png" Id="R35889ea60d4b4359" /><Relationship Type="http://schemas.openxmlformats.org/officeDocument/2006/relationships/image" Target="/ppt/media/image3.png" Id="R4b24d36e3e504c7e" /><Relationship Type="http://schemas.openxmlformats.org/officeDocument/2006/relationships/notesSlide" Target="/ppt/notesSlides/notesSlide6.xml" Id="R0df3150fea844dca" /><Relationship Type="http://schemas.openxmlformats.org/officeDocument/2006/relationships/slideLayout" Target="/ppt/slideLayouts/slideLayout13.xml" Id="Rb92601deb8c441cc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4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ar Hex"/>
          <p:cNvSpPr/>
          <p:nvPr/>
        </p:nvSpPr>
        <p:spPr>
          <a:xfrm>
            <a:off x="10775155" y="1785937"/>
            <a:ext cx="2381250" cy="2976562"/>
          </a:xfrm>
          <a:prstGeom prst="hexagon">
            <a:avLst/>
          </a:prstGeom>
          <a:solidFill>
            <a:srgbClr val="05323A"/>
          </a:solidFill>
          <a:ln w="9525">
            <a:solidFill>
              <a:srgbClr val="1E6B52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" name="Accent Line V"/>
          <p:cNvCxnSpPr/>
          <p:nvPr/>
        </p:nvCxnSpPr>
        <p:spPr>
          <a:xfrm>
            <a:off x="9072562" y="0"/>
            <a:ext cx="0" cy="1488281"/>
          </a:xfrm>
          <a:prstGeom prst="line">
            <a:avLst/>
          </a:prstGeom>
          <a:ln w="9525">
            <a:solidFill>
              <a:srgbClr val="2B6B5C"/>
            </a:solidFill>
          </a:ln>
        </p:spPr>
      </p:cxnSp>
      <p:sp>
        <p:nvSpPr>
          <p:cNvPr id="4" name="Outer Hex"/>
          <p:cNvSpPr/>
          <p:nvPr/>
        </p:nvSpPr>
        <p:spPr>
          <a:xfrm>
            <a:off x="7119937" y="1333500"/>
            <a:ext cx="3810000" cy="4226718"/>
          </a:xfrm>
          <a:prstGeom prst="hexagon">
            <a:avLst/>
          </a:prstGeom>
          <a:solidFill>
            <a:srgbClr val="0A4A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White Hex"/>
          <p:cNvSpPr/>
          <p:nvPr/>
        </p:nvSpPr>
        <p:spPr>
          <a:xfrm>
            <a:off x="7346156" y="1738312"/>
            <a:ext cx="3286125" cy="3405187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mall Hex Green"/>
          <p:cNvSpPr/>
          <p:nvPr/>
        </p:nvSpPr>
        <p:spPr>
          <a:xfrm>
            <a:off x="10858499" y="1666875"/>
            <a:ext cx="309562" cy="309562"/>
          </a:xfrm>
          <a:prstGeom prst="hexagon">
            <a:avLst/>
          </a:prstGeom>
          <a:solidFill>
            <a:srgbClr val="5693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Mid Hex Green"/>
          <p:cNvSpPr/>
          <p:nvPr/>
        </p:nvSpPr>
        <p:spPr>
          <a:xfrm>
            <a:off x="6619874" y="3119437"/>
            <a:ext cx="523875" cy="571500"/>
          </a:xfrm>
          <a:prstGeom prst="hexagon">
            <a:avLst/>
          </a:prstGeom>
          <a:solidFill>
            <a:srgbClr val="7AC0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Outline Hex"/>
          <p:cNvSpPr/>
          <p:nvPr/>
        </p:nvSpPr>
        <p:spPr>
          <a:xfrm>
            <a:off x="6774656" y="4714875"/>
            <a:ext cx="738187" cy="833437"/>
          </a:xfrm>
          <a:prstGeom prst="hexagon">
            <a:avLst/>
          </a:prstGeom>
          <a:noFill/>
          <a:ln w="9525">
            <a:solidFill>
              <a:srgbClr val="1E6B52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" name="Genesis Logo" descr="Genesis logo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8096249" y="2095500"/>
            <a:ext cx="1797844" cy="2339578"/>
          </a:xfrm>
          <a:prstGeom prst="rect">
            <a:avLst/>
          </a:prstGeom>
        </p:spPr>
      </p:pic>
      <p:sp>
        <p:nvSpPr>
          <p:cNvPr id="10" name="Kicker"/>
          <p:cNvSpPr txBox="1"/>
          <p:nvPr/>
        </p:nvSpPr>
        <p:spPr>
          <a:xfrm>
            <a:off x="535781" y="476250"/>
            <a:ext cx="500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000" b="1" i="0" spc="300" dirty="0">
                <a:solidFill>
                  <a:srgbClr val="7AC043"/>
                </a:solidFill>
              </a:rPr>
              <a:t>PRE-IDEATHON TEMPLATE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535781" y="857250"/>
            <a:ext cx="6191249" cy="1666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6000" b="0" i="0" spc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GENESIS</a:t>
            </a:r>
          </a:p>
          <a:p>
            <a:pPr algn="l" marL="0" indent="0">
              <a:lnSpc>
                <a:spcPct val="90000"/>
              </a:lnSpc>
              <a:spcAft>
                <a:spcPts val="0"/>
              </a:spcAft>
              <a:buNone/>
            </a:pPr>
            <a:r>
              <a:rPr lang="en-US" sz="6000" b="0" i="0" spc="0" dirty="0">
                <a:solidFill>
                  <a:srgbClr val="7AC043"/>
                </a:solidFill>
                <a:latin typeface="Cambria"/>
                <a:ea typeface="Cambria"/>
                <a:cs typeface="Cambria"/>
              </a:rPr>
              <a:t>IDEATHON</a:t>
            </a:r>
          </a:p>
        </p:txBody>
      </p:sp>
      <p:sp>
        <p:nvSpPr>
          <p:cNvPr id="12" name="Team Domain Pill"/>
          <p:cNvSpPr/>
          <p:nvPr/>
        </p:nvSpPr>
        <p:spPr>
          <a:xfrm>
            <a:off x="464344" y="2571750"/>
            <a:ext cx="2119312" cy="381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E7D52"/>
            </a:solidFill>
          </a:ln>
        </p:spPr>
        <p:txBody>
          <a:bodyPr wrap="square" lIns="0" tIns="0" rIns="0" bIns="0" anchor="ctr"/>
          <a:lstStyle/>
          <a:p>
            <a:pPr algn="ctr" marL="0" indent="0">
              <a:spcAft>
                <a:spcPts val="0"/>
              </a:spcAft>
              <a:buNone/>
            </a:pPr>
            <a:r>
              <a:rPr lang="en-US" sz="1100" b="1" i="0" spc="300" dirty="0">
                <a:solidFill>
                  <a:srgbClr val="FFFFFF"/>
                </a:solidFill>
              </a:rPr>
              <a:t>TEAM &amp; DOMAIN</a:t>
            </a:r>
          </a:p>
        </p:txBody>
      </p:sp>
      <p:sp>
        <p:nvSpPr>
          <p:cNvPr id="13" name="Intro Line"/>
          <p:cNvSpPr txBox="1"/>
          <p:nvPr/>
        </p:nvSpPr>
        <p:spPr>
          <a:xfrm>
            <a:off x="535781" y="3059906"/>
            <a:ext cx="6191249" cy="285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 marL="0" indent="0">
              <a:spcAft>
                <a:spcPts val="0"/>
              </a:spcAft>
              <a:buNone/>
            </a:pPr>
            <a:r>
              <a:rPr lang="en-US" sz="1400" b="0" i="1" spc="0" dirty="0">
                <a:solidFill>
                  <a:srgbClr val="C9DDE2"/>
                </a:solidFill>
              </a:rPr>
              <a:t>Introduce your team and the domain you have chosen</a:t>
            </a:r>
          </a:p>
        </p:txBody>
      </p:sp>
      <p:sp>
        <p:nvSpPr>
          <p:cNvPr id="14" name="Team Details"/>
          <p:cNvSpPr txBox="1"/>
          <p:nvPr/>
        </p:nvSpPr>
        <p:spPr>
          <a:xfrm>
            <a:off x="535781" y="3631406"/>
            <a:ext cx="6191249" cy="22621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 marL="0" indent="0">
              <a:spcAft>
                <a:spcPts val="500"/>
              </a:spcAft>
              <a:buNone/>
            </a:pPr>
            <a:r>
              <a:rPr lang="en-US" sz="1500" b="1" i="0" spc="0" dirty="0">
                <a:solidFill>
                  <a:srgbClr val="7AC043"/>
                </a:solidFill>
              </a:rPr>
              <a:t>Team Name – </a:t>
            </a:r>
            <a:r>
              <a:rPr lang="en-US" sz="1500" b="0" i="0" spc="0" dirty="0">
                <a:solidFill>
                  <a:srgbClr val="FFFFFF"/>
                </a:solidFill>
              </a:rPr>
              <a:t>Neural Coders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lang="en-US" sz="1500" b="1" i="0" spc="0" dirty="0">
                <a:solidFill>
                  <a:srgbClr val="7AC043"/>
                </a:solidFill>
              </a:rPr>
              <a:t>Team Members – </a:t>
            </a:r>
            <a:r>
              <a:rPr lang="en-US" sz="1500" b="0" i="0" spc="0" dirty="0">
                <a:solidFill>
                  <a:srgbClr val="FFFFFF"/>
                </a:solidFill>
              </a:rPr>
              <a:t>Narendran (cb.ai.u4aid26024), Abhinav (cb.ai.u4aid26051), Midhun (cb.ai.u4aid26020), Anu Sri (cb.ai.u4aid2601)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lang="en-US" sz="1500" b="1" i="0" spc="0" dirty="0">
                <a:solidFill>
                  <a:srgbClr val="7AC043"/>
                </a:solidFill>
              </a:rPr>
              <a:t>Selected Domain – </a:t>
            </a:r>
            <a:r>
              <a:rPr lang="en-US" sz="1500" b="0" i="0" spc="0" dirty="0">
                <a:solidFill>
                  <a:srgbClr val="FFFFFF"/>
                </a:solidFill>
              </a:rPr>
              <a:t>Energy, Mobility &amp; Smart Infrastructure</a:t>
            </a:r>
          </a:p>
          <a:p>
            <a:pPr algn="l" marL="0" indent="0">
              <a:spcAft>
                <a:spcPts val="500"/>
              </a:spcAft>
              <a:buNone/>
            </a:pPr>
            <a:r>
              <a:rPr lang="en-US" sz="1500" b="1" i="0" spc="0" dirty="0">
                <a:solidFill>
                  <a:srgbClr val="7AC043"/>
                </a:solidFill>
              </a:rPr>
              <a:t>Problem Statement – </a:t>
            </a:r>
            <a:r>
              <a:rPr lang="en-US" sz="1500" b="0" i="0" spc="0" dirty="0">
                <a:solidFill>
                  <a:srgbClr val="FFFFFF"/>
                </a:solidFill>
              </a:rPr>
              <a:t>Signature Detection for Micro-Leakage in Aging Urban Water Grid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9566f96aa2a44d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Neural Coders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28b8f8b6d98b4e28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750" b="1"/>
              <a:t>Explain the problem in your domain simply, in your own words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868680" y="2121408"/>
            <a:ext cx="8915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The problem — </a:t>
            </a:r>
            <a:r>
              <a:rPr lang="en-US" sz="1600" dirty="0" b="0">
                <a:solidFill>
                  <a:schemeClr val="tx1"/>
                </a:solidFill>
              </a:rPr>
              <a:t>most "smart infrastructure" solutions rely on expensive smart meters. Meanwhile, cities lose millions of gallons of treated water to underground micro-leaks that don't trigger pressure alarms until the pipe fully bursts.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9566f96aa2a44d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28b8f8b6d98b4e28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750" b="1"/>
              <a:t>People and services affected by hidden water loss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868680" y="2121408"/>
            <a:ext cx="8915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Primary users — </a:t>
            </a:r>
            <a:r>
              <a:rPr lang="en-US" sz="1600" dirty="0" b="0">
                <a:solidFill>
                  <a:schemeClr val="tx1"/>
                </a:solidFill>
              </a:rPr>
              <a:t>municipal water utilities, network operators and maintenance crews who locate and repair underground leaks.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Secondary stakeholders — </a:t>
            </a:r>
            <a:r>
              <a:rPr lang="en-US" sz="1600" dirty="0" b="0">
                <a:solidFill>
                  <a:schemeClr val="tx1"/>
                </a:solidFill>
              </a:rPr>
              <a:t>residents, hospitals, schools, businesses, road/transport departments and city administrations affected by outages or excavation work.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Beneficiaries — </a:t>
            </a:r>
            <a:r>
              <a:rPr lang="en-US" sz="1600" dirty="0" b="0">
                <a:solidFill>
                  <a:schemeClr val="tx1"/>
                </a:solidFill>
              </a:rPr>
              <a:t>communities receive a more reliable water supply; utilities save treated water, pumping energy and repair costs; cities reduce disruption and environmental waste.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b144618324e34990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a661e941c30e40b5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750" b="1"/>
              <a:t>What happens today—and why early detection matters now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868680" y="2121408"/>
            <a:ext cx="8915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Background — </a:t>
            </a:r>
            <a:r>
              <a:rPr lang="en-US" sz="1600" dirty="0" b="0">
                <a:solidFill>
                  <a:schemeClr val="tx1"/>
                </a:solidFill>
              </a:rPr>
              <a:t>aging pipes, corroded sections and worn joints can develop tiny underground leaks long before a visible break or major pressure drop.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Monitoring today — </a:t>
            </a:r>
            <a:r>
              <a:rPr lang="en-US" sz="1600" dirty="0" b="0">
                <a:solidFill>
                  <a:schemeClr val="tx1"/>
                </a:solidFill>
              </a:rPr>
              <a:t>utilities use bulk flow/pressure readings, district meters, periodic acoustic surveys, inspections and complaints. Full smart-meter coverage can be costly, while a micro-leak may be hidden by normal demand changes.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Workflow &amp; urgency — </a:t>
            </a:r>
            <a:r>
              <a:rPr lang="en-US" sz="1600" dirty="0" b="0">
                <a:solidFill>
                  <a:schemeClr val="tx1"/>
                </a:solidFill>
              </a:rPr>
              <a:t>monitor → flag an anomaly/complaint → field-check and narrow the location → excavate and repair. A published global estimate puts leakage and burst losses at 126 billion m³/year (about US$39 billion), showing why early detection matters. [1]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  <p:sp>
        <p:nvSpPr>
          <p:cNvPr id="26" name="Leakage statistic source"/>
          <p:cNvSpPr txBox="1"/>
          <p:nvPr/>
        </p:nvSpPr>
        <p:spPr>
          <a:xfrm>
            <a:off x="868680" y="5971032"/>
            <a:ext cx="8961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800" i="1">
                <a:solidFill>
                  <a:srgbClr val="4A6569"/>
                </a:solidFill>
              </a:rPr>
              <a:t>[1] Rousso, Lambert &amp; Gong, Journal of Cleaner Production 410 (2023), 137193; reports a global loss estimate citing Liemberger &amp; Wyatt (2018).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>    </p:cNvPr>
          <p:cNvPicPr>
            <a:picLocks noChangeAspect="1"/>
          </p:cNvPicPr>
          <p:nvPr/>
        </p:nvPicPr>
        <p:blipFill>
          <a:blip r:embed="R497e683e740143be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300" kern="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Your Team Name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>    </p:cNvPr>
          <p:cNvPicPr>
            <a:picLocks noChangeAspect="1"/>
          </p:cNvPicPr>
          <p:nvPr/>
        </p:nvPicPr>
        <p:blipFill>
          <a:blip r:embed="Rbeda983eb57a4a35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750" b="1"/>
              <a:t>Why detecting a small leak is difficult</a:t>
            </a:r>
          </a:p>
        </p:txBody>
      </p:sp>
      <p:sp>
        <p:nvSpPr>
          <p:cNvPr id="10" name="Prompts"/>
          <p:cNvSpPr txBox="1"/>
          <p:nvPr/>
        </p:nvSpPr>
        <p:spPr>
          <a:xfrm>
            <a:off x="868680" y="2121408"/>
            <a:ext cx="8915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Detection bottleneck — </a:t>
            </a:r>
            <a:r>
              <a:rPr lang="en-US" sz="1600" dirty="0" b="0">
                <a:solidFill>
                  <a:schemeClr val="tx1"/>
                </a:solidFill>
              </a:rPr>
              <a:t>micro-leaks create weak sound, vibration, flow or pressure signatures that can be masked by changing demand, pumps, traffic and soil conditions.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Root causes — </a:t>
            </a:r>
            <a:r>
              <a:rPr lang="en-US" sz="1600" dirty="0" b="0">
                <a:solidFill>
                  <a:schemeClr val="tx1"/>
                </a:solidFill>
              </a:rPr>
              <a:t>aging/corroding pipes and worn joints; varied pipe materials and burial depths; limited sensor coverage; and scarce labelled leak data make reliable detection difficult.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600" dirty="0" b="1">
                <a:solidFill>
                  <a:schemeClr val="tx1"/>
                </a:solidFill>
              </a:rPr>
              <a:t>If left unsolved — </a:t>
            </a:r>
            <a:r>
              <a:rPr lang="en-US" sz="1600" dirty="0" b="0">
                <a:solidFill>
                  <a:schemeClr val="tx1"/>
                </a:solidFill>
              </a:rPr>
              <a:t>treated water and pumping energy are wasted; leaks can grow into costly breaks, emergency excavation, road/property damage and service interruptions. Detection must also limit false alarms.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 7"/>
          <p:cNvSpPr/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1048587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48588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097153" name="Team Icon" descr="Team icon"/>
          <p:cNvPicPr>
            <a:picLocks noChangeAspect="1"/>
          </p:cNvPicPr>
          <p:nvPr/>
        </p:nvPicPr>
        <p:blipFill>
          <a:blip r:embed="R747abd4ee485490c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1048589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</a:t>
            </a:r>
            <a:r>
              <a:rPr lang="en-GB" altLang="en-US" sz="1500" b="1" dirty="0">
                <a:solidFill>
                  <a:schemeClr val="accent1"/>
                </a:solidFill>
              </a:rPr>
              <a:t>eural Coders</a:t>
            </a:r>
            <a:endParaRPr lang="en-GB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1048590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</p:sp>
      <p:pic>
        <p:nvPicPr>
          <p:cNvPr id="2097154" name="Lead Icon" descr="Lightbulb icon"/>
          <p:cNvPicPr>
            <a:picLocks noChangeAspect="1"/>
          </p:cNvPicPr>
          <p:nvPr/>
        </p:nvPicPr>
        <p:blipFill>
          <a:blip r:embed="Rafbf36e0cb294521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1048591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48592" name="Prompts"/>
          <p:cNvSpPr txBox="1"/>
          <p:nvPr/>
        </p:nvSpPr>
        <p:spPr>
          <a:xfrm>
            <a:off x="868680" y="2148840"/>
            <a:ext cx="10424160" cy="3569212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altLang="en-IN" sz="1800" dirty="0"/>
              <a:t>Pressure monitoring: Might miss small leaks with insignificant pressure changes.</a:t>
            </a:r>
            <a:endParaRPr lang="en-US" alt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altLang="en-IN" sz="1800" dirty="0"/>
              <a:t>Flow monitoring: Can detect anomalies in water loss but not the location of the leak.</a:t>
            </a:r>
            <a:endParaRPr lang="en-US" alt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altLang="en-IN" sz="1800" dirty="0"/>
              <a:t>Acoustic monitoring: Susceptible to traffic and other noises.</a:t>
            </a:r>
            <a:endParaRPr lang="en-US" alt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altLang="en-IN" sz="1800" dirty="0"/>
              <a:t>Smart meters: Can be costly to implement on a large scale.</a:t>
            </a:r>
            <a:endParaRPr lang="en-US" alt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altLang="en-IN" sz="1800" dirty="0"/>
              <a:t>Manual checks: Are time-consuming and reactive measures.</a:t>
            </a:r>
            <a:endParaRPr lang="en-US" altLang="en-US" sz="1800" dirty="0"/>
          </a:p>
          <a:p>
            <a:pPr marL="0" indent="0">
              <a:spcAft>
                <a:spcPts val="1000"/>
              </a:spcAft>
              <a:buNone/>
            </a:pPr>
            <a:endParaRPr lang="en-US" alt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altLang="en-IN" sz="2000" b="1" dirty="0"/>
              <a:t>Key challange</a:t>
            </a:r>
            <a:r>
              <a:rPr lang="en-US" altLang="en-IN" sz="2400" b="1" dirty="0"/>
              <a:t> </a:t>
            </a:r>
            <a:r>
              <a:rPr lang="en-US" altLang="en-IN" sz="1800" dirty="0"/>
              <a:t>:A cheap AI that could identify subtle micro-leak patterns with a few sensors at an early stage.</a:t>
            </a:r>
            <a:endParaRPr lang="en-US" alt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altLang="en-US" sz="1800" dirty="0"/>
          </a:p>
        </p:txBody>
      </p:sp>
      <p:sp>
        <p:nvSpPr>
          <p:cNvPr id="104859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ext 7"/>
          <p:cNvSpPr/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1048598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48599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097155" name="Team Icon" descr="Team icon"/>
          <p:cNvPicPr>
            <a:picLocks noChangeAspect="1"/>
          </p:cNvPicPr>
          <p:nvPr/>
        </p:nvPicPr>
        <p:blipFill>
          <a:blip r:embed="Rcd8b5500d4234df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1048600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</a:t>
            </a:r>
            <a:r>
              <a:rPr lang="en-GB" altLang="en-US" sz="1500" b="1" dirty="0">
                <a:solidFill>
                  <a:schemeClr val="accent1"/>
                </a:solidFill>
              </a:rPr>
              <a:t>eural Coders</a:t>
            </a:r>
            <a:endParaRPr lang="en-GB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1048601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</p:sp>
      <p:pic>
        <p:nvPicPr>
          <p:cNvPr id="2097156" name="Lead Icon" descr="Lightbulb icon"/>
          <p:cNvPicPr>
            <a:picLocks noChangeAspect="1"/>
          </p:cNvPicPr>
          <p:nvPr/>
        </p:nvPicPr>
        <p:blipFill>
          <a:blip r:embed="Rf2de9e31acf94ea6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1048602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48603" name="Prompts"/>
          <p:cNvSpPr txBox="1"/>
          <p:nvPr/>
        </p:nvSpPr>
        <p:spPr>
          <a:xfrm>
            <a:off x="868680" y="2148840"/>
            <a:ext cx="10424160" cy="37871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altLang="en-US" sz="1800" dirty="0"/>
              <a:t>Hardware Requirements</a:t>
            </a:r>
            <a:r>
              <a:rPr lang="en-GB" altLang="en-US" sz="1800" dirty="0"/>
              <a:t> - </a:t>
            </a:r>
            <a:r>
              <a:rPr lang="en-US" altLang="en-US" sz="1800" dirty="0"/>
              <a:t>ESP32,</a:t>
            </a:r>
            <a:r>
              <a:rPr lang="en-GB" altLang="en-US" sz="1800" dirty="0"/>
              <a:t> </a:t>
            </a:r>
            <a:r>
              <a:rPr lang="en-US" altLang="en-US" sz="1800" dirty="0"/>
              <a:t>Pressure Sensor,</a:t>
            </a:r>
            <a:r>
              <a:rPr lang="en-GB" altLang="en-US" sz="1800" dirty="0"/>
              <a:t> </a:t>
            </a:r>
            <a:r>
              <a:rPr lang="en-US" altLang="en-US" sz="1800" dirty="0"/>
              <a:t>Flow Sensor,Vibration/Acoustic Sensor,</a:t>
            </a:r>
            <a:r>
              <a:rPr lang="en-GB" altLang="en-US" sz="1800" dirty="0"/>
              <a:t> </a:t>
            </a:r>
            <a:r>
              <a:rPr lang="en-US" altLang="en-US" sz="1800" dirty="0"/>
              <a:t>Water Tank and Small Pipe Setup,</a:t>
            </a:r>
            <a:r>
              <a:rPr lang="en-GB" altLang="en-US" sz="1800" dirty="0"/>
              <a:t> </a:t>
            </a:r>
            <a:r>
              <a:rPr lang="en-US" altLang="en-US" sz="1800" dirty="0"/>
              <a:t>Power Supply/Battery,</a:t>
            </a:r>
            <a:r>
              <a:rPr lang="en-GB" altLang="en-US" sz="1800" dirty="0"/>
              <a:t> </a:t>
            </a:r>
            <a:r>
              <a:rPr lang="en-US" altLang="en-US" sz="1800" dirty="0"/>
              <a:t>Laptop/Computer</a:t>
            </a:r>
            <a:endParaRPr lang="en-US" alt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</a:t>
            </a:r>
            <a:r>
              <a:rPr lang="en-US" dirty="0">
                <a:sym typeface="+mn-ea"/>
              </a:rPr>
              <a:t>oftware Requirements</a:t>
            </a:r>
            <a:r>
              <a:rPr lang="en-GB" altLang="en-US" dirty="0">
                <a:sym typeface="+mn-ea"/>
              </a:rPr>
              <a:t>  - </a:t>
            </a:r>
            <a:r>
              <a:rPr lang="en-US" altLang="en-US" dirty="0">
                <a:sym typeface="+mn-ea"/>
              </a:rPr>
              <a:t>Python,NumPy,Pandas,SciPy,Scikit-learn,Streamlit,Plotly,SQLite,MQTT,Anomaly Detection,Random Forest / XGBoost</a:t>
            </a:r>
            <a:endParaRPr lang="en-US" altLang="en-US" dirty="0">
              <a:sym typeface="+mn-ea"/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Other resources (Including Human Resources)</a:t>
            </a:r>
            <a:r>
              <a:rPr lang="en-GB" altLang="en-US" sz="1800" dirty="0">
                <a:solidFill>
                  <a:schemeClr val="tx1"/>
                </a:solidFill>
              </a:rPr>
              <a:t> - </a:t>
            </a:r>
            <a:r>
              <a:rPr lang="en-US" altLang="en-US" sz="1800" dirty="0">
                <a:solidFill>
                  <a:schemeClr val="tx1"/>
                </a:solidFill>
              </a:rPr>
              <a:t>AI/ML Develope</a:t>
            </a:r>
            <a:r>
              <a:rPr lang="en-GB" altLang="en-US" sz="1800" dirty="0">
                <a:solidFill>
                  <a:schemeClr val="tx1"/>
                </a:solidFill>
              </a:rPr>
              <a:t>r,</a:t>
            </a:r>
            <a:r>
              <a:rPr lang="en-US" altLang="en-US" sz="1800" dirty="0">
                <a:solidFill>
                  <a:schemeClr val="tx1"/>
                </a:solidFill>
              </a:rPr>
              <a:t>IoT/Hardware Developer</a:t>
            </a:r>
            <a:r>
              <a:rPr lang="en-GB" altLang="en-US" sz="1800" dirty="0">
                <a:solidFill>
                  <a:schemeClr val="tx1"/>
                </a:solidFill>
              </a:rPr>
              <a:t>,</a:t>
            </a:r>
            <a:r>
              <a:rPr lang="en-US" altLang="en-US" sz="1800" dirty="0">
                <a:solidFill>
                  <a:schemeClr val="tx1"/>
                </a:solidFill>
              </a:rPr>
              <a:t>Backend Developer</a:t>
            </a:r>
            <a:r>
              <a:rPr lang="en-GB" altLang="en-US" sz="1800" dirty="0">
                <a:solidFill>
                  <a:schemeClr val="tx1"/>
                </a:solidFill>
              </a:rPr>
              <a:t>,</a:t>
            </a:r>
            <a:r>
              <a:rPr lang="en-US" altLang="en-US" sz="1800" dirty="0">
                <a:solidFill>
                  <a:schemeClr val="tx1"/>
                </a:solidFill>
              </a:rPr>
              <a:t>Frontend/Dashboard Developer</a:t>
            </a:r>
            <a:r>
              <a:rPr lang="en-GB" altLang="en-US" sz="1800" dirty="0">
                <a:solidFill>
                  <a:schemeClr val="tx1"/>
                </a:solidFill>
              </a:rPr>
              <a:t>,</a:t>
            </a:r>
            <a:r>
              <a:rPr lang="en-US" altLang="en-US" sz="1800" dirty="0">
                <a:solidFill>
                  <a:schemeClr val="tx1"/>
                </a:solidFill>
              </a:rPr>
              <a:t>Domain Expert</a:t>
            </a:r>
            <a:r>
              <a:rPr lang="en-GB" altLang="en-US" sz="1800" dirty="0">
                <a:solidFill>
                  <a:schemeClr val="tx1"/>
                </a:solidFill>
              </a:rPr>
              <a:t>,</a:t>
            </a:r>
            <a:r>
              <a:rPr lang="en-US" altLang="en-US" sz="1800" dirty="0">
                <a:solidFill>
                  <a:schemeClr val="tx1"/>
                </a:solidFill>
              </a:rPr>
              <a:t>Testing Team</a:t>
            </a: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104860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ext 7"/>
          <p:cNvSpPr/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1048609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48610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2097157" name="Team Icon" descr="Team icon"/>
          <p:cNvPicPr>
            <a:picLocks noChangeAspect="1"/>
          </p:cNvPicPr>
          <p:nvPr/>
        </p:nvPicPr>
        <p:blipFill>
          <a:blip r:embed="R35889ea60d4b4359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1048611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</a:t>
            </a:r>
            <a:r>
              <a:rPr lang="en-GB" altLang="en-US" sz="1500" b="1" dirty="0">
                <a:solidFill>
                  <a:schemeClr val="accent1"/>
                </a:solidFill>
              </a:rPr>
              <a:t>eural Coders</a:t>
            </a:r>
            <a:endParaRPr lang="en-GB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1048612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</p:spPr>
      </p:sp>
      <p:pic>
        <p:nvPicPr>
          <p:cNvPr id="2097158" name="Lead Icon" descr="Lightbulb icon"/>
          <p:cNvPicPr>
            <a:picLocks noChangeAspect="1"/>
          </p:cNvPicPr>
          <p:nvPr/>
        </p:nvPicPr>
        <p:blipFill>
          <a:blip r:embed="R4b24d36e3e504c7e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1048613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48614" name="Prompts"/>
          <p:cNvSpPr txBox="1"/>
          <p:nvPr/>
        </p:nvSpPr>
        <p:spPr>
          <a:xfrm>
            <a:off x="892571" y="1948825"/>
            <a:ext cx="11656298" cy="4820797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279400" indent="-27940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your team intends to </a:t>
            </a:r>
            <a:r>
              <a:rPr lang="en-GB" altLang="en-US" sz="1800" dirty="0">
                <a:solidFill>
                  <a:schemeClr val="tx1"/>
                </a:solidFill>
              </a:rPr>
              <a:t>do</a:t>
            </a:r>
            <a:endParaRPr lang="en-GB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    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Collect sensor data.Detect leak signatures with AI/ML.Estimate the risk of a leak and its likely location.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Display messages in a dashboard.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marL="279400" indent="-27940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 want to im</a:t>
            </a:r>
            <a:r>
              <a:rPr lang="en-US" sz="1800" dirty="0">
                <a:solidFill>
                  <a:schemeClr val="tx1"/>
                </a:solidFill>
              </a:rPr>
              <a:t>prove</a:t>
            </a:r>
            <a:r>
              <a:rPr lang="en-GB" altLang="en-US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;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marL="0" indent="0">
              <a:lnSpc>
                <a:spcPct val="50000"/>
              </a:lnSpc>
              <a:spcAft>
                <a:spcPts val="1000"/>
              </a:spcAft>
              <a:buNone/>
            </a:pP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E</a:t>
            </a:r>
            <a:r>
              <a:rPr lang="en-US" altLang="en-IN" sz="1800" dirty="0">
                <a:solidFill>
                  <a:schemeClr val="tx1"/>
                </a:solidFill>
              </a:rPr>
              <a:t>arly leak detection</a:t>
            </a:r>
            <a:r>
              <a:rPr lang="en-US" altLang="en-IN" sz="1800" dirty="0">
                <a:solidFill>
                  <a:schemeClr val="tx1"/>
                </a:solidFill>
              </a:rPr>
              <a:t>,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Improved detection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,</a:t>
            </a:r>
            <a:r>
              <a:rPr lang="en-US" altLang="en-IN" sz="1800" dirty="0">
                <a:solidFill>
                  <a:schemeClr val="tx1"/>
                </a:solidFill>
              </a:rPr>
              <a:t>Monitoring costs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,</a:t>
            </a:r>
            <a:r>
              <a:rPr lang="en-US" altLang="en-IN" sz="1800" dirty="0">
                <a:solidFill>
                  <a:schemeClr val="tx1"/>
                </a:solidFill>
              </a:rPr>
              <a:t>W</a:t>
            </a:r>
            <a:r>
              <a:rPr lang="en-US" altLang="en-IN" sz="1800" dirty="0">
                <a:solidFill>
                  <a:schemeClr val="tx1"/>
                </a:solidFill>
              </a:rPr>
              <a:t>a</a:t>
            </a:r>
            <a:r>
              <a:rPr lang="en-US" altLang="en-IN" sz="1800" dirty="0">
                <a:solidFill>
                  <a:schemeClr val="tx1"/>
                </a:solidFill>
              </a:rPr>
              <a:t>ter-loss prevention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279400" indent="-27940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successful improvement should you achieve</a:t>
            </a:r>
            <a:endParaRPr 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         1. </a:t>
            </a:r>
            <a:r>
              <a:rPr lang="en-US" altLang="en-US" sz="1800" dirty="0">
                <a:solidFill>
                  <a:schemeClr val="tx1"/>
                </a:solidFill>
              </a:rPr>
              <a:t>Detect small/developing leaks based on patterns.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 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GB" altLang="en-US" sz="1800" dirty="0">
                <a:solidFill>
                  <a:schemeClr val="tx1"/>
                </a:solidFill>
              </a:rPr>
              <a:t> 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GB" altLang="en-US" sz="1800" dirty="0">
                <a:solidFill>
                  <a:schemeClr val="tx1"/>
                </a:solidFill>
              </a:rPr>
              <a:t>  2. </a:t>
            </a:r>
            <a:r>
              <a:rPr lang="en-US" altLang="en-US" sz="1800" dirty="0">
                <a:solidFill>
                  <a:schemeClr val="tx1"/>
                </a:solidFill>
              </a:rPr>
              <a:t>Be able to distinguish between a leak and normal increases in demand</a:t>
            </a:r>
            <a:r>
              <a:rPr lang="en-US" altLang="en-IN" sz="1800" dirty="0">
                <a:solidFill>
                  <a:schemeClr val="tx1"/>
                </a:solidFill>
              </a:rPr>
              <a:t>(</a:t>
            </a:r>
            <a:r>
              <a:rPr lang="en-US" altLang="en-IN" sz="1800" dirty="0">
                <a:solidFill>
                  <a:schemeClr val="tx1"/>
                </a:solidFill>
              </a:rPr>
              <a:t>i</a:t>
            </a:r>
            <a:r>
              <a:rPr lang="en-US" altLang="en-IN" sz="1800" dirty="0">
                <a:solidFill>
                  <a:schemeClr val="tx1"/>
                </a:solidFill>
              </a:rPr>
              <a:t>e</a:t>
            </a:r>
            <a:r>
              <a:rPr lang="en-US" altLang="en-IN" sz="1800" dirty="0">
                <a:solidFill>
                  <a:schemeClr val="tx1"/>
                </a:solidFill>
              </a:rPr>
              <a:t>.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d</a:t>
            </a:r>
            <a:r>
              <a:rPr lang="en-US" altLang="en-IN" sz="1800" dirty="0">
                <a:solidFill>
                  <a:schemeClr val="tx1"/>
                </a:solidFill>
              </a:rPr>
              <a:t>u</a:t>
            </a:r>
            <a:r>
              <a:rPr lang="en-US" altLang="en-US" sz="1800" dirty="0">
                <a:solidFill>
                  <a:schemeClr val="tx1"/>
                </a:solidFill>
              </a:rPr>
              <a:t>e to more users using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 </a:t>
            </a:r>
            <a:r>
              <a:rPr lang="en-US" altLang="en-IN" sz="1800" dirty="0">
                <a:solidFill>
                  <a:schemeClr val="tx1"/>
                </a:solidFill>
              </a:rPr>
              <a:t>W</a:t>
            </a:r>
            <a:r>
              <a:rPr lang="en-US" altLang="en-IN" sz="1800" dirty="0">
                <a:solidFill>
                  <a:schemeClr val="tx1"/>
                </a:solidFill>
              </a:rPr>
              <a:t>a</a:t>
            </a:r>
            <a:r>
              <a:rPr lang="en-US" altLang="en-IN" sz="1800" dirty="0">
                <a:solidFill>
                  <a:schemeClr val="tx1"/>
                </a:solidFill>
              </a:rPr>
              <a:t>t</a:t>
            </a:r>
            <a:r>
              <a:rPr lang="en-US" altLang="en-IN" sz="1800" dirty="0">
                <a:solidFill>
                  <a:schemeClr val="tx1"/>
                </a:solidFill>
              </a:rPr>
              <a:t>e</a:t>
            </a:r>
            <a:r>
              <a:rPr lang="en-US" altLang="en-IN" sz="1800" dirty="0">
                <a:solidFill>
                  <a:schemeClr val="tx1"/>
                </a:solidFill>
              </a:rPr>
              <a:t>r</a:t>
            </a:r>
            <a:r>
              <a:rPr lang="en-US" altLang="en-IN" sz="1800" dirty="0">
                <a:solidFill>
                  <a:schemeClr val="tx1"/>
                </a:solidFill>
              </a:rPr>
              <a:t>)</a:t>
            </a:r>
            <a:r>
              <a:rPr lang="en-US" altLang="en-US" sz="1800" dirty="0">
                <a:solidFill>
                  <a:schemeClr val="tx1"/>
                </a:solidFill>
              </a:rPr>
              <a:t> 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         3. </a:t>
            </a:r>
            <a:r>
              <a:rPr lang="en-US" altLang="en-US" sz="1800" dirty="0">
                <a:solidFill>
                  <a:schemeClr val="tx1"/>
                </a:solidFill>
              </a:rPr>
              <a:t>Provide the probability/risk score of a leak.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         4. </a:t>
            </a:r>
            <a:r>
              <a:rPr lang="en-US" altLang="en-US" sz="1800" dirty="0">
                <a:solidFill>
                  <a:schemeClr val="tx1"/>
                </a:solidFill>
              </a:rPr>
              <a:t>Identify the most likely section of pipe that is leaking.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         5. </a:t>
            </a:r>
            <a:r>
              <a:rPr lang="en-US" altLang="en-US" sz="1800" dirty="0">
                <a:solidFill>
                  <a:schemeClr val="tx1"/>
                </a:solidFill>
              </a:rPr>
              <a:t>Give an early warning of developing leaks to help mitigate the damage.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None/>
            </a:pPr>
            <a:r>
              <a:rPr lang="en-GB" altLang="en-US" sz="1800" dirty="0">
                <a:solidFill>
                  <a:schemeClr val="tx1"/>
                </a:solidFill>
              </a:rPr>
              <a:t>         6. </a:t>
            </a:r>
            <a:r>
              <a:rPr lang="en-US" altLang="en-US" sz="1800" dirty="0">
                <a:solidFill>
                  <a:schemeClr val="tx1"/>
                </a:solidFill>
              </a:rPr>
              <a:t>Use a low-cost sensor prototype (instead of calling for expensive smart meters everywhere).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lvl="1" indent="0">
              <a:lnSpc>
                <a:spcPct val="50000"/>
              </a:lnSpc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10486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 algn="ctr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/>
  <keywords/>
  <dc:description>generated using python-pptx</dc:description>
  <lastModifiedBy>Steve Canny</lastModifiedBy>
  <revision>1</revision>
  <dcterms:created xsi:type="dcterms:W3CDTF">2013-01-27T09:14:16.0000000Z</dcterms:created>
  <dcterms:modified xsi:type="dcterms:W3CDTF">2026-10-10T03:54:42.8120000Z</dcterms:modified>
  <category/>
</coreProperties>
</file>